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rchivo Black" panose="020B0604020202020204" charset="0"/>
      <p:regular r:id="rId6"/>
    </p:embeddedFont>
    <p:embeddedFont>
      <p:font typeface="Bobby Jones" panose="020B0604020202020204" charset="0"/>
      <p:regular r:id="rId7"/>
    </p:embeddedFon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Tomorrow" panose="020B0604020202020204" charset="0"/>
      <p:regular r:id="rId10"/>
    </p:embeddedFont>
    <p:embeddedFont>
      <p:font typeface="Tomorrow Bold" panose="020B0604020202020204" charset="0"/>
      <p:regular r:id="rId11"/>
    </p:embeddedFont>
    <p:embeddedFont>
      <p:font typeface="Ubuntu" panose="020B0504030602030204" pitchFamily="34" charset="0"/>
      <p:regular r:id="rId12"/>
    </p:embeddedFont>
    <p:embeddedFont>
      <p:font typeface="Ubuntu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65866" y="-433594"/>
            <a:ext cx="17248474" cy="7086248"/>
          </a:xfrm>
          <a:custGeom>
            <a:avLst/>
            <a:gdLst/>
            <a:ahLst/>
            <a:cxnLst/>
            <a:rect l="l" t="t" r="r" b="b"/>
            <a:pathLst>
              <a:path w="17248474" h="7086248">
                <a:moveTo>
                  <a:pt x="17248473" y="7086248"/>
                </a:moveTo>
                <a:lnTo>
                  <a:pt x="0" y="7086248"/>
                </a:lnTo>
                <a:lnTo>
                  <a:pt x="0" y="0"/>
                </a:lnTo>
                <a:lnTo>
                  <a:pt x="17248473" y="0"/>
                </a:lnTo>
                <a:lnTo>
                  <a:pt x="17248473" y="708624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016987" y="1058610"/>
            <a:ext cx="474331" cy="539793"/>
          </a:xfrm>
          <a:custGeom>
            <a:avLst/>
            <a:gdLst/>
            <a:ahLst/>
            <a:cxnLst/>
            <a:rect l="l" t="t" r="r" b="b"/>
            <a:pathLst>
              <a:path w="474331" h="539793">
                <a:moveTo>
                  <a:pt x="0" y="0"/>
                </a:moveTo>
                <a:lnTo>
                  <a:pt x="474332" y="0"/>
                </a:lnTo>
                <a:lnTo>
                  <a:pt x="474332" y="539794"/>
                </a:lnTo>
                <a:lnTo>
                  <a:pt x="0" y="53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969927" y="8275106"/>
            <a:ext cx="4289373" cy="483529"/>
          </a:xfrm>
          <a:custGeom>
            <a:avLst/>
            <a:gdLst/>
            <a:ahLst/>
            <a:cxnLst/>
            <a:rect l="l" t="t" r="r" b="b"/>
            <a:pathLst>
              <a:path w="4289373" h="483529">
                <a:moveTo>
                  <a:pt x="0" y="0"/>
                </a:moveTo>
                <a:lnTo>
                  <a:pt x="4289373" y="0"/>
                </a:lnTo>
                <a:lnTo>
                  <a:pt x="4289373" y="483529"/>
                </a:lnTo>
                <a:lnTo>
                  <a:pt x="0" y="483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6069528"/>
            <a:ext cx="12875661" cy="312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10"/>
              </a:lnSpc>
            </a:pPr>
            <a:r>
              <a:rPr lang="en-US" sz="758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LEARNOVA</a:t>
            </a:r>
          </a:p>
          <a:p>
            <a:pPr marL="0" lvl="0" indent="0" algn="just">
              <a:lnSpc>
                <a:spcPts val="8110"/>
              </a:lnSpc>
            </a:pPr>
            <a:r>
              <a:rPr lang="en-US" sz="7580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AI-Powered Personalized Learning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8422" y="1082344"/>
            <a:ext cx="1500353" cy="641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2"/>
              </a:lnSpc>
            </a:pPr>
            <a:r>
              <a:rPr lang="en-US" sz="1571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 + NOVA = NEW STAR OF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5086350" y="-718661"/>
            <a:ext cx="17248474" cy="7086248"/>
          </a:xfrm>
          <a:custGeom>
            <a:avLst/>
            <a:gdLst/>
            <a:ahLst/>
            <a:cxnLst/>
            <a:rect l="l" t="t" r="r" b="b"/>
            <a:pathLst>
              <a:path w="17248474" h="7086248">
                <a:moveTo>
                  <a:pt x="17248474" y="7086248"/>
                </a:moveTo>
                <a:lnTo>
                  <a:pt x="0" y="7086248"/>
                </a:lnTo>
                <a:lnTo>
                  <a:pt x="0" y="0"/>
                </a:lnTo>
                <a:lnTo>
                  <a:pt x="17248474" y="0"/>
                </a:lnTo>
                <a:lnTo>
                  <a:pt x="17248474" y="708624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8301161" cy="10165643"/>
            <a:chOff x="0" y="0"/>
            <a:chExt cx="1175564" cy="14396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5564" cy="1439601"/>
            </a:xfrm>
            <a:custGeom>
              <a:avLst/>
              <a:gdLst/>
              <a:ahLst/>
              <a:cxnLst/>
              <a:rect l="l" t="t" r="r" b="b"/>
              <a:pathLst>
                <a:path w="1175564" h="1439601">
                  <a:moveTo>
                    <a:pt x="0" y="0"/>
                  </a:moveTo>
                  <a:lnTo>
                    <a:pt x="1175564" y="0"/>
                  </a:lnTo>
                  <a:lnTo>
                    <a:pt x="1175564" y="1439601"/>
                  </a:lnTo>
                  <a:lnTo>
                    <a:pt x="0" y="1439601"/>
                  </a:lnTo>
                  <a:close/>
                </a:path>
              </a:pathLst>
            </a:custGeom>
            <a:blipFill>
              <a:blip r:embed="rId3"/>
              <a:stretch>
                <a:fillRect t="-484" b="-48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02831" y="2053460"/>
            <a:ext cx="12152635" cy="6279376"/>
            <a:chOff x="0" y="0"/>
            <a:chExt cx="3200694" cy="16538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0694" cy="1653827"/>
            </a:xfrm>
            <a:custGeom>
              <a:avLst/>
              <a:gdLst/>
              <a:ahLst/>
              <a:cxnLst/>
              <a:rect l="l" t="t" r="r" b="b"/>
              <a:pathLst>
                <a:path w="3200694" h="1653827">
                  <a:moveTo>
                    <a:pt x="48416" y="0"/>
                  </a:moveTo>
                  <a:lnTo>
                    <a:pt x="3152278" y="0"/>
                  </a:lnTo>
                  <a:cubicBezTo>
                    <a:pt x="3179017" y="0"/>
                    <a:pt x="3200694" y="21677"/>
                    <a:pt x="3200694" y="48416"/>
                  </a:cubicBezTo>
                  <a:lnTo>
                    <a:pt x="3200694" y="1605411"/>
                  </a:lnTo>
                  <a:cubicBezTo>
                    <a:pt x="3200694" y="1632151"/>
                    <a:pt x="3179017" y="1653827"/>
                    <a:pt x="3152278" y="1653827"/>
                  </a:cubicBezTo>
                  <a:lnTo>
                    <a:pt x="48416" y="1653827"/>
                  </a:lnTo>
                  <a:cubicBezTo>
                    <a:pt x="21677" y="1653827"/>
                    <a:pt x="0" y="1632151"/>
                    <a:pt x="0" y="1605411"/>
                  </a:cubicBezTo>
                  <a:lnTo>
                    <a:pt x="0" y="48416"/>
                  </a:lnTo>
                  <a:cubicBezTo>
                    <a:pt x="0" y="21677"/>
                    <a:pt x="21677" y="0"/>
                    <a:pt x="484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3200694" cy="1644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1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3847"/>
            <a:ext cx="474331" cy="539013"/>
          </a:xfrm>
          <a:custGeom>
            <a:avLst/>
            <a:gdLst/>
            <a:ahLst/>
            <a:cxnLst/>
            <a:rect l="l" t="t" r="r" b="b"/>
            <a:pathLst>
              <a:path w="474331" h="539013">
                <a:moveTo>
                  <a:pt x="0" y="0"/>
                </a:moveTo>
                <a:lnTo>
                  <a:pt x="474331" y="0"/>
                </a:lnTo>
                <a:lnTo>
                  <a:pt x="474331" y="539013"/>
                </a:lnTo>
                <a:lnTo>
                  <a:pt x="0" y="5390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flipH="1">
            <a:off x="11211217" y="7906540"/>
            <a:ext cx="4500270" cy="507303"/>
          </a:xfrm>
          <a:custGeom>
            <a:avLst/>
            <a:gdLst/>
            <a:ahLst/>
            <a:cxnLst/>
            <a:rect l="l" t="t" r="r" b="b"/>
            <a:pathLst>
              <a:path w="4500270" h="507303">
                <a:moveTo>
                  <a:pt x="4500270" y="0"/>
                </a:moveTo>
                <a:lnTo>
                  <a:pt x="0" y="0"/>
                </a:lnTo>
                <a:lnTo>
                  <a:pt x="0" y="507303"/>
                </a:lnTo>
                <a:lnTo>
                  <a:pt x="4500270" y="507303"/>
                </a:lnTo>
                <a:lnTo>
                  <a:pt x="450027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8587344" y="2176327"/>
            <a:ext cx="7425037" cy="69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298"/>
              </a:lnSpc>
            </a:pPr>
            <a:r>
              <a:rPr lang="en-US" sz="509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ABSTRACT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8422" y="1082344"/>
            <a:ext cx="1500353" cy="22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14"/>
              </a:lnSpc>
            </a:pPr>
            <a:r>
              <a:rPr lang="en-US" sz="1572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LEARNOVA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01161" y="2817475"/>
            <a:ext cx="9654947" cy="5596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24"/>
              </a:lnSpc>
              <a:spcBef>
                <a:spcPct val="0"/>
              </a:spcBef>
            </a:pPr>
            <a:r>
              <a:rPr lang="en-US" sz="2189" u="none" strike="noStrike" spc="-12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Learnova is an AI-powered personalized learning application designed to enhance the educational experience of school students through intelligent and adaptive technology. The system provides grade-wise structured academic content combined with interactive AI-generated explanations to improve concept clarity.</a:t>
            </a:r>
          </a:p>
          <a:p>
            <a:pPr marL="0" lvl="0" indent="0" algn="just">
              <a:lnSpc>
                <a:spcPts val="2824"/>
              </a:lnSpc>
              <a:spcBef>
                <a:spcPct val="0"/>
              </a:spcBef>
            </a:pPr>
            <a:endParaRPr lang="en-US" sz="2189" u="none" strike="noStrike" spc="-12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824"/>
              </a:lnSpc>
              <a:spcBef>
                <a:spcPct val="0"/>
              </a:spcBef>
            </a:pPr>
            <a:r>
              <a:rPr lang="en-US" sz="2189" u="none" strike="noStrike" spc="-12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It integrates an AI assistant and avatar-based teaching interface that delivers explanations in both English and Hinglish, making learning more accessible and engaging. The platform also includes automated assessment features such as topic-wise quizzes, full-length test series, and descriptive answer evaluation using semantic similarity techniques from Natural Language Processing (NLP).</a:t>
            </a:r>
          </a:p>
          <a:p>
            <a:pPr marL="0" lvl="0" indent="0" algn="just">
              <a:lnSpc>
                <a:spcPts val="2824"/>
              </a:lnSpc>
              <a:spcBef>
                <a:spcPct val="0"/>
              </a:spcBef>
            </a:pPr>
            <a:endParaRPr lang="en-US" sz="2189" u="none" strike="noStrike" spc="-12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824"/>
              </a:lnSpc>
              <a:spcBef>
                <a:spcPct val="0"/>
              </a:spcBef>
            </a:pPr>
            <a:r>
              <a:rPr lang="en-US" sz="2189" u="none" strike="noStrike" spc="-12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The primary objective of Learnova is to enable personalized learning, improve student engagement, and provide scalable, efficient, and automated evaluation, thereby transforming traditional education into a smarter and more interactive experience.</a:t>
            </a:r>
          </a:p>
          <a:p>
            <a:pPr marL="0" lvl="0" indent="0" algn="just">
              <a:lnSpc>
                <a:spcPts val="2453"/>
              </a:lnSpc>
              <a:spcBef>
                <a:spcPct val="0"/>
              </a:spcBef>
            </a:pPr>
            <a:endParaRPr lang="en-US" sz="2189" u="none" strike="noStrike" spc="-12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0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9746" y="973241"/>
            <a:ext cx="6295549" cy="669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2"/>
              </a:lnSpc>
            </a:pPr>
            <a:r>
              <a:rPr lang="en-US" sz="7038" spc="-211">
                <a:solidFill>
                  <a:srgbClr val="6E58E1"/>
                </a:solidFill>
                <a:latin typeface="Bobby Jones"/>
                <a:ea typeface="Bobby Jones"/>
                <a:cs typeface="Bobby Jones"/>
                <a:sym typeface="Bobby Jones"/>
              </a:rPr>
              <a:t>LITERATUTE 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775" y="1947129"/>
            <a:ext cx="18113988" cy="9525"/>
            <a:chOff x="0" y="0"/>
            <a:chExt cx="24151984" cy="12700"/>
          </a:xfrm>
        </p:grpSpPr>
        <p:sp>
          <p:nvSpPr>
            <p:cNvPr id="4" name="Freeform 4"/>
            <p:cNvSpPr/>
            <p:nvPr/>
          </p:nvSpPr>
          <p:spPr>
            <a:xfrm>
              <a:off x="6350" y="0"/>
              <a:ext cx="24139271" cy="12700"/>
            </a:xfrm>
            <a:custGeom>
              <a:avLst/>
              <a:gdLst/>
              <a:ahLst/>
              <a:cxnLst/>
              <a:rect l="l" t="t" r="r" b="b"/>
              <a:pathLst>
                <a:path w="24139271" h="12700">
                  <a:moveTo>
                    <a:pt x="0" y="0"/>
                  </a:moveTo>
                  <a:lnTo>
                    <a:pt x="24139271" y="0"/>
                  </a:lnTo>
                  <a:lnTo>
                    <a:pt x="24139271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2B7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21137" y="1942367"/>
            <a:ext cx="9525" cy="13307578"/>
            <a:chOff x="0" y="0"/>
            <a:chExt cx="12700" cy="17743437"/>
          </a:xfrm>
        </p:grpSpPr>
        <p:sp>
          <p:nvSpPr>
            <p:cNvPr id="6" name="Freeform 6"/>
            <p:cNvSpPr/>
            <p:nvPr/>
          </p:nvSpPr>
          <p:spPr>
            <a:xfrm>
              <a:off x="0" y="6350"/>
              <a:ext cx="12700" cy="17730724"/>
            </a:xfrm>
            <a:custGeom>
              <a:avLst/>
              <a:gdLst/>
              <a:ahLst/>
              <a:cxnLst/>
              <a:rect l="l" t="t" r="r" b="b"/>
              <a:pathLst>
                <a:path w="12700" h="17730724">
                  <a:moveTo>
                    <a:pt x="0" y="17730724"/>
                  </a:moveTo>
                  <a:lnTo>
                    <a:pt x="0" y="0"/>
                  </a:lnTo>
                  <a:lnTo>
                    <a:pt x="12700" y="0"/>
                  </a:lnTo>
                  <a:lnTo>
                    <a:pt x="12700" y="17730724"/>
                  </a:lnTo>
                  <a:close/>
                </a:path>
              </a:pathLst>
            </a:custGeom>
            <a:solidFill>
              <a:srgbClr val="C2B7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398786" y="2301688"/>
            <a:ext cx="4689596" cy="1059285"/>
          </a:xfrm>
          <a:custGeom>
            <a:avLst/>
            <a:gdLst/>
            <a:ahLst/>
            <a:cxnLst/>
            <a:rect l="l" t="t" r="r" b="b"/>
            <a:pathLst>
              <a:path w="4689596" h="1059285">
                <a:moveTo>
                  <a:pt x="0" y="0"/>
                </a:moveTo>
                <a:lnTo>
                  <a:pt x="4689595" y="0"/>
                </a:lnTo>
                <a:lnTo>
                  <a:pt x="4689595" y="1059284"/>
                </a:lnTo>
                <a:lnTo>
                  <a:pt x="0" y="105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40076" y="3906323"/>
            <a:ext cx="5308902" cy="498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Content Delivery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Language Support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Teaching Method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Personalization Level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Assessment Type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Descriptive Answer Evaluation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38760" lvl="2" indent="-146253" algn="ctr">
              <a:lnSpc>
                <a:spcPts val="2686"/>
              </a:lnSpc>
              <a:buFont typeface="Arial"/>
              <a:buChar char="⚬"/>
            </a:pPr>
            <a:r>
              <a:rPr lang="en-US" sz="191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Integrity Features</a:t>
            </a:r>
          </a:p>
          <a:p>
            <a:pPr marL="438760" lvl="2" indent="-146253" algn="ctr">
              <a:lnSpc>
                <a:spcPts val="2686"/>
              </a:lnSpc>
            </a:pPr>
            <a:endParaRPr lang="en-US" sz="1918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1759" y="2441753"/>
            <a:ext cx="4663650" cy="64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sz="3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747028" y="1956654"/>
            <a:ext cx="47625" cy="13307578"/>
            <a:chOff x="0" y="0"/>
            <a:chExt cx="63500" cy="17743437"/>
          </a:xfrm>
        </p:grpSpPr>
        <p:sp>
          <p:nvSpPr>
            <p:cNvPr id="11" name="Freeform 11"/>
            <p:cNvSpPr/>
            <p:nvPr/>
          </p:nvSpPr>
          <p:spPr>
            <a:xfrm>
              <a:off x="0" y="6350"/>
              <a:ext cx="63500" cy="17730724"/>
            </a:xfrm>
            <a:custGeom>
              <a:avLst/>
              <a:gdLst/>
              <a:ahLst/>
              <a:cxnLst/>
              <a:rect l="l" t="t" r="r" b="b"/>
              <a:pathLst>
                <a:path w="63500" h="17730724">
                  <a:moveTo>
                    <a:pt x="0" y="17730724"/>
                  </a:moveTo>
                  <a:lnTo>
                    <a:pt x="0" y="0"/>
                  </a:lnTo>
                  <a:lnTo>
                    <a:pt x="63500" y="0"/>
                  </a:lnTo>
                  <a:lnTo>
                    <a:pt x="63500" y="17730724"/>
                  </a:lnTo>
                  <a:close/>
                </a:path>
              </a:pathLst>
            </a:custGeom>
            <a:solidFill>
              <a:srgbClr val="C2B7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6490732" y="2301688"/>
            <a:ext cx="4689596" cy="1059285"/>
          </a:xfrm>
          <a:custGeom>
            <a:avLst/>
            <a:gdLst/>
            <a:ahLst/>
            <a:cxnLst/>
            <a:rect l="l" t="t" r="r" b="b"/>
            <a:pathLst>
              <a:path w="4689596" h="1059285">
                <a:moveTo>
                  <a:pt x="0" y="0"/>
                </a:moveTo>
                <a:lnTo>
                  <a:pt x="4689595" y="0"/>
                </a:lnTo>
                <a:lnTo>
                  <a:pt x="4689595" y="1059284"/>
                </a:lnTo>
                <a:lnTo>
                  <a:pt x="0" y="105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6503705" y="2539830"/>
            <a:ext cx="4663650" cy="448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</a:pPr>
            <a:r>
              <a:rPr lang="en-US" sz="2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AI Tutoring Systems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490633" y="2301688"/>
            <a:ext cx="4689596" cy="1059285"/>
          </a:xfrm>
          <a:custGeom>
            <a:avLst/>
            <a:gdLst/>
            <a:ahLst/>
            <a:cxnLst/>
            <a:rect l="l" t="t" r="r" b="b"/>
            <a:pathLst>
              <a:path w="4689596" h="1059285">
                <a:moveTo>
                  <a:pt x="0" y="0"/>
                </a:moveTo>
                <a:lnTo>
                  <a:pt x="4689596" y="0"/>
                </a:lnTo>
                <a:lnTo>
                  <a:pt x="4689596" y="1059284"/>
                </a:lnTo>
                <a:lnTo>
                  <a:pt x="0" y="1059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2582677" y="2539830"/>
            <a:ext cx="4505508" cy="876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5"/>
              </a:lnSpc>
            </a:pPr>
            <a:r>
              <a:rPr lang="en-US" sz="251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Proposed System – Learnova</a:t>
            </a:r>
          </a:p>
          <a:p>
            <a:pPr algn="ctr">
              <a:lnSpc>
                <a:spcPts val="3515"/>
              </a:lnSpc>
            </a:pPr>
            <a:endParaRPr lang="en-US" sz="251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03705" y="3967048"/>
            <a:ext cx="4685881" cy="498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644" lvl="2" indent="-259215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videos, notes, recommendation-based content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644" lvl="2" indent="-259215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English-only support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643" lvl="2" indent="-259214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Chatbots / text-based explanations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643" lvl="2" indent="-259214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Limited personalization</a:t>
            </a:r>
          </a:p>
          <a:p>
            <a:pPr algn="l">
              <a:lnSpc>
                <a:spcPts val="2521"/>
              </a:lnSpc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</a:p>
          <a:p>
            <a:pPr marL="777643" lvl="2" indent="-259214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Mostly MCQs, manual evaluation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643" lvl="2" indent="-259214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supported or manual checking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77644" lvl="2" indent="-259215" algn="l">
              <a:lnSpc>
                <a:spcPts val="2521"/>
              </a:lnSpc>
              <a:buFont typeface="Arial"/>
              <a:buChar char="⚬"/>
            </a:pPr>
            <a:r>
              <a:rPr lang="en-US" sz="1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Rarely implemented</a:t>
            </a:r>
          </a:p>
          <a:p>
            <a:pPr algn="l">
              <a:lnSpc>
                <a:spcPts val="2521"/>
              </a:lnSpc>
            </a:pPr>
            <a:endParaRPr lang="en-US" sz="18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722066" y="3967048"/>
            <a:ext cx="4990895" cy="492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AI-based interactive explanations (grade-wise)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Hinglish + English bilingual explanation with language switching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Interactive avatar-based teaching assistant explaining topics dynamically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Grade-adaptive learning, topic-level quizzes, and adaptive suggestions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8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Quizzes + full test series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8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8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AI-based semantic answer evaluation</a:t>
            </a:r>
          </a:p>
          <a:p>
            <a:pPr algn="l">
              <a:lnSpc>
                <a:spcPts val="2189"/>
              </a:lnSpc>
            </a:pPr>
            <a:endParaRPr lang="en-US" sz="1563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189"/>
              </a:lnSpc>
            </a:pPr>
            <a:r>
              <a:rPr lang="en-US" sz="15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 monitoring (timer, tab-switch detection)</a:t>
            </a:r>
          </a:p>
        </p:txBody>
      </p:sp>
      <p:sp>
        <p:nvSpPr>
          <p:cNvPr id="18" name="Freeform 18"/>
          <p:cNvSpPr/>
          <p:nvPr/>
        </p:nvSpPr>
        <p:spPr>
          <a:xfrm flipH="1" flipV="1">
            <a:off x="1028700" y="0"/>
            <a:ext cx="17248474" cy="7086248"/>
          </a:xfrm>
          <a:custGeom>
            <a:avLst/>
            <a:gdLst/>
            <a:ahLst/>
            <a:cxnLst/>
            <a:rect l="l" t="t" r="r" b="b"/>
            <a:pathLst>
              <a:path w="17248474" h="7086248">
                <a:moveTo>
                  <a:pt x="17248474" y="7086248"/>
                </a:moveTo>
                <a:lnTo>
                  <a:pt x="0" y="7086248"/>
                </a:lnTo>
                <a:lnTo>
                  <a:pt x="0" y="0"/>
                </a:lnTo>
                <a:lnTo>
                  <a:pt x="17248474" y="0"/>
                </a:lnTo>
                <a:lnTo>
                  <a:pt x="17248474" y="708624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4786432"/>
            <a:ext cx="5242507" cy="2960899"/>
            <a:chOff x="0" y="0"/>
            <a:chExt cx="1749516" cy="9881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49516" cy="988103"/>
            </a:xfrm>
            <a:custGeom>
              <a:avLst/>
              <a:gdLst/>
              <a:ahLst/>
              <a:cxnLst/>
              <a:rect l="l" t="t" r="r" b="b"/>
              <a:pathLst>
                <a:path w="1749516" h="988103">
                  <a:moveTo>
                    <a:pt x="44303" y="0"/>
                  </a:moveTo>
                  <a:lnTo>
                    <a:pt x="1705213" y="0"/>
                  </a:lnTo>
                  <a:cubicBezTo>
                    <a:pt x="1729681" y="0"/>
                    <a:pt x="1749516" y="19835"/>
                    <a:pt x="1749516" y="44303"/>
                  </a:cubicBezTo>
                  <a:lnTo>
                    <a:pt x="1749516" y="943801"/>
                  </a:lnTo>
                  <a:cubicBezTo>
                    <a:pt x="1749516" y="968268"/>
                    <a:pt x="1729681" y="988103"/>
                    <a:pt x="1705213" y="988103"/>
                  </a:cubicBezTo>
                  <a:lnTo>
                    <a:pt x="44303" y="988103"/>
                  </a:lnTo>
                  <a:cubicBezTo>
                    <a:pt x="19835" y="988103"/>
                    <a:pt x="0" y="968268"/>
                    <a:pt x="0" y="943801"/>
                  </a:cubicBezTo>
                  <a:lnTo>
                    <a:pt x="0" y="44303"/>
                  </a:lnTo>
                  <a:cubicBezTo>
                    <a:pt x="0" y="19835"/>
                    <a:pt x="19835" y="0"/>
                    <a:pt x="4430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749516" cy="959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2747" y="6297401"/>
            <a:ext cx="5242507" cy="2960899"/>
            <a:chOff x="0" y="0"/>
            <a:chExt cx="1749516" cy="9881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9516" cy="988103"/>
            </a:xfrm>
            <a:custGeom>
              <a:avLst/>
              <a:gdLst/>
              <a:ahLst/>
              <a:cxnLst/>
              <a:rect l="l" t="t" r="r" b="b"/>
              <a:pathLst>
                <a:path w="1749516" h="988103">
                  <a:moveTo>
                    <a:pt x="44303" y="0"/>
                  </a:moveTo>
                  <a:lnTo>
                    <a:pt x="1705213" y="0"/>
                  </a:lnTo>
                  <a:cubicBezTo>
                    <a:pt x="1729681" y="0"/>
                    <a:pt x="1749516" y="19835"/>
                    <a:pt x="1749516" y="44303"/>
                  </a:cubicBezTo>
                  <a:lnTo>
                    <a:pt x="1749516" y="943801"/>
                  </a:lnTo>
                  <a:cubicBezTo>
                    <a:pt x="1749516" y="968268"/>
                    <a:pt x="1729681" y="988103"/>
                    <a:pt x="1705213" y="988103"/>
                  </a:cubicBezTo>
                  <a:lnTo>
                    <a:pt x="44303" y="988103"/>
                  </a:lnTo>
                  <a:cubicBezTo>
                    <a:pt x="19835" y="988103"/>
                    <a:pt x="0" y="968268"/>
                    <a:pt x="0" y="943801"/>
                  </a:cubicBezTo>
                  <a:lnTo>
                    <a:pt x="0" y="44303"/>
                  </a:lnTo>
                  <a:cubicBezTo>
                    <a:pt x="0" y="19835"/>
                    <a:pt x="19835" y="0"/>
                    <a:pt x="4430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749516" cy="959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16793" y="4786432"/>
            <a:ext cx="5242507" cy="2960899"/>
            <a:chOff x="0" y="0"/>
            <a:chExt cx="1749516" cy="9881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9516" cy="988103"/>
            </a:xfrm>
            <a:custGeom>
              <a:avLst/>
              <a:gdLst/>
              <a:ahLst/>
              <a:cxnLst/>
              <a:rect l="l" t="t" r="r" b="b"/>
              <a:pathLst>
                <a:path w="1749516" h="988103">
                  <a:moveTo>
                    <a:pt x="44303" y="0"/>
                  </a:moveTo>
                  <a:lnTo>
                    <a:pt x="1705213" y="0"/>
                  </a:lnTo>
                  <a:cubicBezTo>
                    <a:pt x="1729681" y="0"/>
                    <a:pt x="1749516" y="19835"/>
                    <a:pt x="1749516" y="44303"/>
                  </a:cubicBezTo>
                  <a:lnTo>
                    <a:pt x="1749516" y="943801"/>
                  </a:lnTo>
                  <a:cubicBezTo>
                    <a:pt x="1749516" y="968268"/>
                    <a:pt x="1729681" y="988103"/>
                    <a:pt x="1705213" y="988103"/>
                  </a:cubicBezTo>
                  <a:lnTo>
                    <a:pt x="44303" y="988103"/>
                  </a:lnTo>
                  <a:cubicBezTo>
                    <a:pt x="19835" y="988103"/>
                    <a:pt x="0" y="968268"/>
                    <a:pt x="0" y="943801"/>
                  </a:cubicBezTo>
                  <a:lnTo>
                    <a:pt x="0" y="44303"/>
                  </a:lnTo>
                  <a:cubicBezTo>
                    <a:pt x="0" y="19835"/>
                    <a:pt x="19835" y="0"/>
                    <a:pt x="44303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749516" cy="959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2638" y="4444670"/>
            <a:ext cx="4794631" cy="683524"/>
            <a:chOff x="0" y="0"/>
            <a:chExt cx="1600052" cy="2281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0052" cy="228104"/>
            </a:xfrm>
            <a:custGeom>
              <a:avLst/>
              <a:gdLst/>
              <a:ahLst/>
              <a:cxnLst/>
              <a:rect l="l" t="t" r="r" b="b"/>
              <a:pathLst>
                <a:path w="1600052" h="228104">
                  <a:moveTo>
                    <a:pt x="48441" y="0"/>
                  </a:moveTo>
                  <a:lnTo>
                    <a:pt x="1551610" y="0"/>
                  </a:lnTo>
                  <a:cubicBezTo>
                    <a:pt x="1564458" y="0"/>
                    <a:pt x="1576779" y="5104"/>
                    <a:pt x="1585864" y="14188"/>
                  </a:cubicBezTo>
                  <a:cubicBezTo>
                    <a:pt x="1594948" y="23273"/>
                    <a:pt x="1600052" y="35594"/>
                    <a:pt x="1600052" y="48441"/>
                  </a:cubicBezTo>
                  <a:lnTo>
                    <a:pt x="1600052" y="179663"/>
                  </a:lnTo>
                  <a:cubicBezTo>
                    <a:pt x="1600052" y="192510"/>
                    <a:pt x="1594948" y="204831"/>
                    <a:pt x="1585864" y="213916"/>
                  </a:cubicBezTo>
                  <a:cubicBezTo>
                    <a:pt x="1576779" y="223000"/>
                    <a:pt x="1564458" y="228104"/>
                    <a:pt x="1551610" y="228104"/>
                  </a:cubicBezTo>
                  <a:lnTo>
                    <a:pt x="48441" y="228104"/>
                  </a:lnTo>
                  <a:cubicBezTo>
                    <a:pt x="35594" y="228104"/>
                    <a:pt x="23273" y="223000"/>
                    <a:pt x="14188" y="213916"/>
                  </a:cubicBezTo>
                  <a:cubicBezTo>
                    <a:pt x="5104" y="204831"/>
                    <a:pt x="0" y="192510"/>
                    <a:pt x="0" y="179663"/>
                  </a:cubicBezTo>
                  <a:lnTo>
                    <a:pt x="0" y="48441"/>
                  </a:lnTo>
                  <a:cubicBezTo>
                    <a:pt x="0" y="35594"/>
                    <a:pt x="5104" y="23273"/>
                    <a:pt x="14188" y="14188"/>
                  </a:cubicBezTo>
                  <a:cubicBezTo>
                    <a:pt x="23273" y="5104"/>
                    <a:pt x="35594" y="0"/>
                    <a:pt x="48441" y="0"/>
                  </a:cubicBezTo>
                  <a:close/>
                </a:path>
              </a:pathLst>
            </a:custGeom>
            <a:solidFill>
              <a:srgbClr val="22254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600052" cy="209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034"/>
                </a:lnSpc>
              </a:pPr>
              <a:r>
                <a:rPr lang="en-US" sz="2034" spc="40">
                  <a:solidFill>
                    <a:srgbClr val="FFFFFF"/>
                  </a:solidFill>
                  <a:latin typeface="Ubuntu"/>
                  <a:ea typeface="Ubuntu"/>
                  <a:cs typeface="Ubuntu"/>
                  <a:sym typeface="Ubuntu"/>
                </a:rPr>
                <a:t>The Problem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46685" y="5955639"/>
            <a:ext cx="4794631" cy="683524"/>
            <a:chOff x="0" y="0"/>
            <a:chExt cx="1600052" cy="2281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00052" cy="228104"/>
            </a:xfrm>
            <a:custGeom>
              <a:avLst/>
              <a:gdLst/>
              <a:ahLst/>
              <a:cxnLst/>
              <a:rect l="l" t="t" r="r" b="b"/>
              <a:pathLst>
                <a:path w="1600052" h="228104">
                  <a:moveTo>
                    <a:pt x="48441" y="0"/>
                  </a:moveTo>
                  <a:lnTo>
                    <a:pt x="1551610" y="0"/>
                  </a:lnTo>
                  <a:cubicBezTo>
                    <a:pt x="1564458" y="0"/>
                    <a:pt x="1576779" y="5104"/>
                    <a:pt x="1585864" y="14188"/>
                  </a:cubicBezTo>
                  <a:cubicBezTo>
                    <a:pt x="1594948" y="23273"/>
                    <a:pt x="1600052" y="35594"/>
                    <a:pt x="1600052" y="48441"/>
                  </a:cubicBezTo>
                  <a:lnTo>
                    <a:pt x="1600052" y="179663"/>
                  </a:lnTo>
                  <a:cubicBezTo>
                    <a:pt x="1600052" y="192510"/>
                    <a:pt x="1594948" y="204831"/>
                    <a:pt x="1585864" y="213916"/>
                  </a:cubicBezTo>
                  <a:cubicBezTo>
                    <a:pt x="1576779" y="223000"/>
                    <a:pt x="1564458" y="228104"/>
                    <a:pt x="1551610" y="228104"/>
                  </a:cubicBezTo>
                  <a:lnTo>
                    <a:pt x="48441" y="228104"/>
                  </a:lnTo>
                  <a:cubicBezTo>
                    <a:pt x="35594" y="228104"/>
                    <a:pt x="23273" y="223000"/>
                    <a:pt x="14188" y="213916"/>
                  </a:cubicBezTo>
                  <a:cubicBezTo>
                    <a:pt x="5104" y="204831"/>
                    <a:pt x="0" y="192510"/>
                    <a:pt x="0" y="179663"/>
                  </a:cubicBezTo>
                  <a:lnTo>
                    <a:pt x="0" y="48441"/>
                  </a:lnTo>
                  <a:cubicBezTo>
                    <a:pt x="0" y="35594"/>
                    <a:pt x="5104" y="23273"/>
                    <a:pt x="14188" y="14188"/>
                  </a:cubicBezTo>
                  <a:cubicBezTo>
                    <a:pt x="23273" y="5104"/>
                    <a:pt x="35594" y="0"/>
                    <a:pt x="48441" y="0"/>
                  </a:cubicBezTo>
                  <a:close/>
                </a:path>
              </a:pathLst>
            </a:custGeom>
            <a:solidFill>
              <a:srgbClr val="22254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600052" cy="190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800" b="1" spc="140">
                  <a:solidFill>
                    <a:srgbClr val="FFFFFF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THE CHALLENGE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40731" y="4444670"/>
            <a:ext cx="4794631" cy="683524"/>
            <a:chOff x="0" y="0"/>
            <a:chExt cx="1600052" cy="2281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0052" cy="228104"/>
            </a:xfrm>
            <a:custGeom>
              <a:avLst/>
              <a:gdLst/>
              <a:ahLst/>
              <a:cxnLst/>
              <a:rect l="l" t="t" r="r" b="b"/>
              <a:pathLst>
                <a:path w="1600052" h="228104">
                  <a:moveTo>
                    <a:pt x="48441" y="0"/>
                  </a:moveTo>
                  <a:lnTo>
                    <a:pt x="1551610" y="0"/>
                  </a:lnTo>
                  <a:cubicBezTo>
                    <a:pt x="1564458" y="0"/>
                    <a:pt x="1576779" y="5104"/>
                    <a:pt x="1585864" y="14188"/>
                  </a:cubicBezTo>
                  <a:cubicBezTo>
                    <a:pt x="1594948" y="23273"/>
                    <a:pt x="1600052" y="35594"/>
                    <a:pt x="1600052" y="48441"/>
                  </a:cubicBezTo>
                  <a:lnTo>
                    <a:pt x="1600052" y="179663"/>
                  </a:lnTo>
                  <a:cubicBezTo>
                    <a:pt x="1600052" y="192510"/>
                    <a:pt x="1594948" y="204831"/>
                    <a:pt x="1585864" y="213916"/>
                  </a:cubicBezTo>
                  <a:cubicBezTo>
                    <a:pt x="1576779" y="223000"/>
                    <a:pt x="1564458" y="228104"/>
                    <a:pt x="1551610" y="228104"/>
                  </a:cubicBezTo>
                  <a:lnTo>
                    <a:pt x="48441" y="228104"/>
                  </a:lnTo>
                  <a:cubicBezTo>
                    <a:pt x="35594" y="228104"/>
                    <a:pt x="23273" y="223000"/>
                    <a:pt x="14188" y="213916"/>
                  </a:cubicBezTo>
                  <a:cubicBezTo>
                    <a:pt x="5104" y="204831"/>
                    <a:pt x="0" y="192510"/>
                    <a:pt x="0" y="179663"/>
                  </a:cubicBezTo>
                  <a:lnTo>
                    <a:pt x="0" y="48441"/>
                  </a:lnTo>
                  <a:cubicBezTo>
                    <a:pt x="0" y="35594"/>
                    <a:pt x="5104" y="23273"/>
                    <a:pt x="14188" y="14188"/>
                  </a:cubicBezTo>
                  <a:cubicBezTo>
                    <a:pt x="23273" y="5104"/>
                    <a:pt x="35594" y="0"/>
                    <a:pt x="48441" y="0"/>
                  </a:cubicBezTo>
                  <a:close/>
                </a:path>
              </a:pathLst>
            </a:custGeom>
            <a:solidFill>
              <a:srgbClr val="222548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1600052" cy="190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800" b="1" spc="140">
                  <a:solidFill>
                    <a:srgbClr val="FFFFFF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OUR SOLUTION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035053" y="7571594"/>
            <a:ext cx="4217894" cy="141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47"/>
              </a:lnSpc>
            </a:pPr>
            <a:r>
              <a:rPr lang="en-US" sz="2034" spc="4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One-size-fits-all approach fails diverse learners. Students fall behind or lose interest without adaptive pacing.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41006" y="6030407"/>
            <a:ext cx="4217894" cy="1369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0"/>
              </a:lnSpc>
            </a:pPr>
            <a:r>
              <a:rPr lang="en-US" sz="1957" spc="3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Traditional learning relies on static content with no personalization. Every student gets the same material regardless of their needs.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29099" y="5982840"/>
            <a:ext cx="4217894" cy="136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3"/>
              </a:lnSpc>
            </a:pPr>
            <a:r>
              <a:rPr lang="en-US" sz="1945" spc="38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LEARNOVA uses AI to adapt content in real-time, providing personalized learning paths for each student's unique pace and style.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1019175"/>
            <a:ext cx="11567643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  <a:spcBef>
                <a:spcPct val="0"/>
              </a:spcBef>
            </a:pPr>
            <a:r>
              <a:rPr lang="en-US" sz="8799" spc="17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316</Words>
  <Application>Microsoft Office PowerPoint</Application>
  <PresentationFormat>Custom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Tomorrow Bold</vt:lpstr>
      <vt:lpstr>Bobby Jones</vt:lpstr>
      <vt:lpstr>Calibri</vt:lpstr>
      <vt:lpstr>Archivo Black</vt:lpstr>
      <vt:lpstr>Canva Sans Bold</vt:lpstr>
      <vt:lpstr>Ubuntu Bold</vt:lpstr>
      <vt:lpstr>Canva Sans</vt:lpstr>
      <vt:lpstr>Tomorrow</vt:lpstr>
      <vt:lpstr>Ubuntu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Learnova _Rm PPT</dc:title>
  <cp:lastModifiedBy>Orbital System</cp:lastModifiedBy>
  <cp:revision>2</cp:revision>
  <dcterms:created xsi:type="dcterms:W3CDTF">2006-08-16T00:00:00Z</dcterms:created>
  <dcterms:modified xsi:type="dcterms:W3CDTF">2026-04-25T11:59:58Z</dcterms:modified>
  <dc:identifier>DAHG1cSZWZs</dc:identifier>
</cp:coreProperties>
</file>